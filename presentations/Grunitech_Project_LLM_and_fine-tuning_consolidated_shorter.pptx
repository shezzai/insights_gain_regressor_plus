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F5A0F87-70CF-40B3-8618-3B4F3B30CA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Intra-day market sentiment prediction. Shay, Hannan and Niv.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question: can we read a stream of news articles and turn it into a short-term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buy/hold/sell call? We'll walk through the data, three architectures, and what we found.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I'll say the conclusion up front so nothing is a surprise: we could not make it work,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and we think the reason is in the data rather than in the models.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goal, and the assumptions that make it tractable.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We narrowed to AI stocks so the news stream is coherent. We rely on the article stream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as the sentiment source.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Two choices matter later: the horizon is 90 minutes -- long enough for news to move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price, short enough to stay intra-day. And we capture market context alongside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text, so the model isn't judging an article in a vacuum.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Mark Twain: "If you don't read the newspaper you're uninformed. If you do read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newspaper you're misinformed."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It got a laugh when we picked it. By the end of the project it reads less like a joke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and more like a summary of our results.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Section: the data. What we collected, how we split it, and what it looks like.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5,506 articles, all with curated insights -- an LLM-distilled summary of each article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rather than the raw text, which keeps the input to a few hundred tokens.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Sentiment on a 1-to-5 scale extracted with Gemini. Market features: VIX, the stock's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own change, and the AIQ index.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split is roughly 60/20/20, and it is deliberately not random -- the test set is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most recent trading days, held out wholesale. That means the model cannot memorise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particular day and replay it on the test set. Keep that in mind; it becomes important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at the end.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Article volume over time, by split.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Two things to notice. The corpus grows over the two years -- more coverage of AI names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recently. And look at the test panel: it is concentrated entirely on the right, in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newest months. That's the temporal holdout we just described.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target: the stock's move in the 90 minutes after the article.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Tight, symmetric, centred on zero. Standard deviation is about 109 basis points -- call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it one percent.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sets the bar. Any model has to beat a constant predictor that simply guesses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average every time. That baseline gets a mean absolute error of 74 basis points. It's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number to keep in your head.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is the single most important data slide, and it needs no model at all.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We cross-tabulated the LLM's sentiment reading against which way the stock actually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moved in the next 90 minutes. If sentiment carried directional information,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strongly-negative row and the strongly-positive row would look different.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They are identical. Every class is a coin flip -- one percentage point separates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extremes, which on 5,506 articles is inside sampling noise.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Everything in the Results section is a consequence of this table. Pause here.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Section: architecture. Three approaches, deliberately different in kind.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Three architectures, deliberately different in kind.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First: encoder and neural net trained separately -- the encoder reads the article and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produces sentiment, a small network takes that plus the market features.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Second: the same shape trained end-to-end, so the encoder can tune its representation 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prediction rather than to sentiment.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Third: pack everything into JSON and fine-tune an LLM with LoRA.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Three different inductive biases. If any found signal, we'd expect them to diverge.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encoder architecture.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article insights go through the encoder to a sentiment representation. That joins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numerical market features -- index, stock, VIX -- and the concatenated vector feeds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 small network that outputs the percentage change within 90 minutes.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sentiment bottleneck in the middle is a design decision worth noting: it makes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model interpretable, but it also means everything the text contributes has to squeeze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through a 1-to-5 scale.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LLM approach.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We build a prompt: "Recent news indicates that -- article insights -- market status 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VIX, stock, AI index. What is the expected gain or loss?" The model outputs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percentage change within 90 minutes.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LoRA rather than full fine-tuning: about 6 million trainable parameters against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1-billion-parameter base, which is what makes this affordable on our hardware.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Section: results. Two worked examples first, then the consolidated picture across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every model we built.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combined encoder-NN, trained end-to-end. This was our best performer.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Training loss falls steadily, validation loss flattens almost immediately and stays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flat -- the gap between the two lines is the model learning the training set rather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than the relationship.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Validation MAE bounces between 0.0071 and 0.0084 with no real trend after epoch 4.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Final test MAE is 0.0075, which is 75 basis points. Hold that against the 74-basis-point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baseline from the data section.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fine-tuned LLM on the same 1,236 test articles.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Left: 491 predictions within 50 basis points, 745 outside.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Right is what matters -- sign agreement. 50.41% correct direction. A coin flip, from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billion-parameter model with full market context in its prompt.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consolidated table shortly quotes a different, worse-converged LoRA run. Both land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at chance.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Five model families in total -- the three in this deck plus two built as standalone packages. This section puts all of them on one axis.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Leading with the conclusion.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R-squared of zero means your error is the same size as just guessing the mean every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time. Every model we built landed there or below.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second line is the part that surprised us: we also asked the models to describe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move that had ALREADY happened when the article was published. Still nothing.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Everything on one axis. Zero means 'no better than a constant'.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Grey is baselines, blue the text model, orange the tree. Almost nothing clears zero,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and the FLEXIBLE models -- gradient boosting, TF-IDF -- are the worst. That is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signature of fitting noise.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one bar to the right is a hindsight run. It turns out to be leakage; two slides 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same picture as numbers, on one held-out split of 1,236 articles.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constant predictor ignores every input and gets 74.1 basis points. Nothing beats it.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best model matches it to three decimals -- that is what converging to "just predict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average" looks like.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We also varied trainable parameters fifty-fold, 0.4 million to 21 million, and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spread of the predictions barely moved: 2.6 to 2.8 percent of the spread of reality.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Not a capacity problem.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LoRA row is the notebook run, which under-converged -- flagged, not ranked.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R-squared is about magnitude. For trading the question is simpler: does it call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direction?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Two of three are below a coin flip. The third looks like an edge at 52% -- it isn't: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1.5 standard errors from chance, and it comes from the model with the worst magnitude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error, 84 predictions within 50 basis points against roughly 600 for the others.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That row is the notebook LoRA run; the earlier slide's better-converged run gives 50.41%.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Both at chance.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obvious objection: you didn't train it right.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Left, our settings: training loss falls by half while validation RISES. That 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memorisation, not underfitting. Right, five times the learning rate: it memorises harder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and generalises worse.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Everything else we eliminated: capacity, loss function, ticker attribution, measurement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window, and filtering to only "actionable" articles -- which made it worse. Each would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have shown a gradient. None did.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important one: can the pipeline read text at all? Yes -- ask it to predict sentiment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from the same text and it gets 55% against a 43% baseline. The plumbing is fine. It 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mapping from text to future return that does not exist.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one run that looked alive, and why it does not count.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We asked a model to describe a move that had ALREADY happened. It worked: R-squared 0.05, correlation 0.23, and for the first time the model committed to varied predictions.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Then we split by date. On dates seen in training: 0.15. On unseen dates: below zero. It learned 'that morning was strong' from other articles on the same day and applied it to a different stock -- day-level market state, not article-level information.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conclusion, and I want to be precise about what it does and does not say.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It does not say news is useless for trading. It says THIS corpus -- articles published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after the fact, distilled into insights -- does not predict the move that follows, 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sample size and this horizon.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models collapsed to the mean because that is the mathematically correct answer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when there is nothing to condition on. They behaved properly.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These are changes to the data or the question. Tuning is exhausted.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Information that precedes the move. A market-adjusted target that strips the day factor. Direction as classification with AUC, so a weak correlation reads as 53% instead of being erased by squared error. And more data.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Questions.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117340-65AF-4B5E-A825-ACA7AAB91207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E0D442-CF61-4443-85E6-FCDEFDE323E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5ADE4B-7220-4A0C-B760-3D8A0BEDBAE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3841031-894A-42DE-ACAC-71C81B76C9B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A34CF5-CD7E-471B-8300-DD764A704AE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F641BD-1B6E-4D4E-9C2B-628E5E430CE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4A8D1D2-FED8-4BA6-B23A-0CEFEC3D901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1C4721-C146-4F0B-845D-F073B884E104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8DF81FD-F493-4A0E-B4D9-AB49C13DACE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BF30A5A-2724-46B1-9633-B0ABC513DAE9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2B37B07-8914-451C-B8D0-06005AB9272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A400F1-F829-4C66-873B-09503A25CE1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A41646-EAA3-423F-A4D8-942BA929BF4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F7293-9FCD-4C39-8885-5BA8581B1EB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5102C8-268D-4CDC-BAC5-FCE1F8A8582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77C6C0-BFCF-41A9-88BB-169DD8B39B1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507DD0-5127-4BBA-86E2-626CF2C2E42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119109-3B06-4D41-BE4A-4B66DB8874C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117EE7-CBDF-4552-868E-387B049F42F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C2CC7B-7CEB-4317-9AC2-3507BFFF4FE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90A5DA-CCA9-4113-94D2-68B1035223F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732B6A-5CF9-485A-A23F-A999B594E0D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chemeClr val="dk1"/>
                </a:solidFill>
                <a:latin typeface="Arial"/>
                <a:ea typeface="Arial"/>
              </a:rPr>
              <a:t>Intra-Day Market Sentiment Prediction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2"/>
                </a:solidFill>
                <a:latin typeface="Arial"/>
                <a:ea typeface="Arial"/>
              </a:rPr>
              <a:t>Shay, Hannan, Niv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Goal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Given a </a:t>
            </a:r>
            <a:r>
              <a:rPr b="1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stream of articles</a:t>
            </a: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, we’d like to </a:t>
            </a:r>
            <a:r>
              <a:rPr b="1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predict a recommendation for short term buy/hold/sell</a:t>
            </a: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 u="sng">
                <a:solidFill>
                  <a:schemeClr val="dk2"/>
                </a:solidFill>
                <a:uFillTx/>
                <a:latin typeface="Arial"/>
                <a:ea typeface="Arial"/>
              </a:rPr>
              <a:t>Assumptions</a:t>
            </a: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Narrow on one market segment (AI stocks)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Rely on market sentiment (article stream)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Predict for medium term (90 minutes)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Capture market status (vix, AI stocks Index, stock price)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66;p15" descr=""/>
          <p:cNvPicPr/>
          <p:nvPr/>
        </p:nvPicPr>
        <p:blipFill>
          <a:blip r:embed="rId1"/>
          <a:stretch/>
        </p:blipFill>
        <p:spPr>
          <a:xfrm>
            <a:off x="1433520" y="1824120"/>
            <a:ext cx="6276600" cy="149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chemeClr val="dk1"/>
                </a:solidFill>
                <a:latin typeface="Arial"/>
                <a:ea typeface="Arial"/>
              </a:rPr>
              <a:t>Data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2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7520">
              <a:lnSpc>
                <a:spcPct val="115000"/>
              </a:lnSpc>
              <a:buClr>
                <a:srgbClr val="1f1f1f"/>
              </a:buClr>
              <a:buFont typeface="Arial"/>
              <a:buChar char="●"/>
            </a:pPr>
            <a:r>
              <a:rPr b="1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Total 5,506 articles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1f1f1f"/>
              </a:buClr>
              <a:buFont typeface="Arial"/>
              <a:buChar char="○"/>
            </a:pPr>
            <a:r>
              <a:rPr b="0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Curated insights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1f1f1f"/>
              </a:buClr>
              <a:buFont typeface="Arial"/>
              <a:buChar char="○"/>
            </a:pPr>
            <a:r>
              <a:rPr b="0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Sentiment (extracted with gemini-3.8-flash)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1f1f1f"/>
              </a:buClr>
              <a:buFont typeface="Arial"/>
              <a:buChar char="○"/>
            </a:pPr>
            <a:r>
              <a:rPr b="0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Market features: vix, stock change, AIQ index.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1f1f1f"/>
              </a:buClr>
              <a:buFont typeface="Arial"/>
              <a:buChar char="●"/>
            </a:pPr>
            <a:r>
              <a:rPr b="1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Split: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1f1f1f"/>
              </a:buClr>
              <a:buFont typeface="Arial"/>
              <a:buChar char="○"/>
            </a:pPr>
            <a:r>
              <a:rPr b="1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Training Set</a:t>
            </a:r>
            <a:r>
              <a:rPr b="0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: 3173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1f1f1f"/>
              </a:buClr>
              <a:buFont typeface="Arial"/>
              <a:buChar char="○"/>
            </a:pPr>
            <a:r>
              <a:rPr b="1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Validation Set</a:t>
            </a:r>
            <a:r>
              <a:rPr b="0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: 1096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1f1f1f"/>
              </a:buClr>
              <a:buFont typeface="Arial"/>
              <a:buChar char="○"/>
            </a:pPr>
            <a:r>
              <a:rPr b="1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Test Set</a:t>
            </a:r>
            <a:r>
              <a:rPr b="0" lang="en" sz="1400" spc="-1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</a:rPr>
              <a:t>: 1237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88;p19" descr=""/>
          <p:cNvPicPr/>
          <p:nvPr/>
        </p:nvPicPr>
        <p:blipFill>
          <a:blip r:embed="rId1"/>
          <a:stretch/>
        </p:blipFill>
        <p:spPr>
          <a:xfrm>
            <a:off x="403200" y="247680"/>
            <a:ext cx="8337240" cy="464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99;p21" descr=""/>
          <p:cNvPicPr/>
          <p:nvPr/>
        </p:nvPicPr>
        <p:blipFill>
          <a:blip r:embed="rId1"/>
          <a:stretch/>
        </p:blipFill>
        <p:spPr>
          <a:xfrm>
            <a:off x="1146240" y="965880"/>
            <a:ext cx="6953040" cy="367020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00;p21"/>
          <p:cNvSpPr/>
          <p:nvPr/>
        </p:nvSpPr>
        <p:spPr>
          <a:xfrm>
            <a:off x="625320" y="356040"/>
            <a:ext cx="500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Gain 90m After Article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Sentiment vs. what happened next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le 2"/>
          <p:cNvGraphicFramePr/>
          <p:nvPr/>
        </p:nvGraphicFramePr>
        <p:xfrm>
          <a:off x="640080" y="1188720"/>
          <a:ext cx="7863480" cy="164556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377440"/>
              </a:tblGrid>
              <a:tr h="273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LLM sentiment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next move DOWN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next move UP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273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Strongly negative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50.80%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49.20%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3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Negative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49.82%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50.18%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  <a:tr h="273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Neutral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51.14%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48.86%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3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Positive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49.76%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50.24%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Strongly positive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50.14%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49.86%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</a:tbl>
          </a:graphicData>
        </a:graphic>
      </p:graphicFrame>
      <p:sp>
        <p:nvSpPr>
          <p:cNvPr id="59" name="TextBox 3"/>
          <p:cNvSpPr/>
          <p:nvPr/>
        </p:nvSpPr>
        <p:spPr>
          <a:xfrm>
            <a:off x="311040" y="4023360"/>
            <a:ext cx="8521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c0392b"/>
                </a:solidFill>
                <a:latin typeface="Arial"/>
                <a:ea typeface="Arial"/>
              </a:rPr>
              <a:t>Every sentiment class is a coin flip — a property of the data, not of any model.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chemeClr val="dk1"/>
                </a:solidFill>
                <a:latin typeface="Arial"/>
                <a:ea typeface="Arial"/>
              </a:rPr>
              <a:t>Architecture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2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Architectures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1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Encoder + NN</a:t>
            </a: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 - we train each separately, on the same dataset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1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Encode ++ NN</a:t>
            </a: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 - we train both encoder and NN together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1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Naive LLM</a:t>
            </a: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 - we pack all input as JSON and train LLM using LoRA to predict market movements.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17;p24"/>
          <p:cNvSpPr/>
          <p:nvPr/>
        </p:nvSpPr>
        <p:spPr>
          <a:xfrm rot="16200000">
            <a:off x="4694760" y="804960"/>
            <a:ext cx="654120" cy="2752920"/>
          </a:xfrm>
          <a:prstGeom prst="bracePair">
            <a:avLst>
              <a:gd name="adj" fmla="val 8333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118;p24"/>
          <p:cNvSpPr/>
          <p:nvPr/>
        </p:nvSpPr>
        <p:spPr>
          <a:xfrm>
            <a:off x="2370240" y="1803240"/>
            <a:ext cx="1003320" cy="595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Encoder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19;p24"/>
          <p:cNvSpPr/>
          <p:nvPr/>
        </p:nvSpPr>
        <p:spPr>
          <a:xfrm>
            <a:off x="3584880" y="2869920"/>
            <a:ext cx="2551680" cy="595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NN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" name="Google Shape;120;p24"/>
          <p:cNvCxnSpPr>
            <a:stCxn id="65" idx="2"/>
            <a:endCxn id="66" idx="1"/>
          </p:cNvCxnSpPr>
          <p:nvPr/>
        </p:nvCxnSpPr>
        <p:spPr>
          <a:xfrm>
            <a:off x="2871720" y="2399040"/>
            <a:ext cx="713520" cy="7689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sp>
        <p:nvSpPr>
          <p:cNvPr id="68" name="Google Shape;121;p24"/>
          <p:cNvSpPr/>
          <p:nvPr/>
        </p:nvSpPr>
        <p:spPr>
          <a:xfrm>
            <a:off x="4473000" y="1341360"/>
            <a:ext cx="1097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900" spc="-1" strike="noStrike">
                <a:solidFill>
                  <a:schemeClr val="dk2"/>
                </a:solidFill>
                <a:latin typeface="Arial"/>
                <a:ea typeface="Arial"/>
              </a:rPr>
              <a:t>Numerical Market Features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22;p24"/>
          <p:cNvSpPr/>
          <p:nvPr/>
        </p:nvSpPr>
        <p:spPr>
          <a:xfrm>
            <a:off x="5089680" y="1959480"/>
            <a:ext cx="51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…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23;p24"/>
          <p:cNvSpPr/>
          <p:nvPr/>
        </p:nvSpPr>
        <p:spPr>
          <a:xfrm>
            <a:off x="5555160" y="2037600"/>
            <a:ext cx="632520" cy="30492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500" spc="-1" strike="noStrike">
                <a:solidFill>
                  <a:schemeClr val="dk1"/>
                </a:solidFill>
                <a:latin typeface="Arial"/>
                <a:ea typeface="Arial"/>
              </a:rPr>
              <a:t>index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24;p24"/>
          <p:cNvSpPr/>
          <p:nvPr/>
        </p:nvSpPr>
        <p:spPr>
          <a:xfrm>
            <a:off x="4529520" y="2037600"/>
            <a:ext cx="632520" cy="30492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500" spc="-1" strike="noStrike">
                <a:solidFill>
                  <a:schemeClr val="dk1"/>
                </a:solidFill>
                <a:latin typeface="Arial"/>
                <a:ea typeface="Arial"/>
              </a:rPr>
              <a:t>stock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25;p24"/>
          <p:cNvSpPr/>
          <p:nvPr/>
        </p:nvSpPr>
        <p:spPr>
          <a:xfrm>
            <a:off x="3831120" y="2037600"/>
            <a:ext cx="632520" cy="30492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500" spc="-1" strike="noStrike">
                <a:solidFill>
                  <a:schemeClr val="dk1"/>
                </a:solidFill>
                <a:latin typeface="Arial"/>
                <a:ea typeface="Arial"/>
              </a:rPr>
              <a:t>vix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" name="Google Shape;126;p24"/>
          <p:cNvCxnSpPr>
            <a:endCxn id="66" idx="0"/>
          </p:cNvCxnSpPr>
          <p:nvPr/>
        </p:nvCxnSpPr>
        <p:spPr>
          <a:xfrm>
            <a:off x="4107960" y="2355480"/>
            <a:ext cx="753120" cy="5148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cxnSp>
        <p:nvCxnSpPr>
          <p:cNvPr id="74" name="Google Shape;127;p24"/>
          <p:cNvCxnSpPr>
            <a:stCxn id="71" idx="4"/>
            <a:endCxn id="66" idx="0"/>
          </p:cNvCxnSpPr>
          <p:nvPr/>
        </p:nvCxnSpPr>
        <p:spPr>
          <a:xfrm>
            <a:off x="4845960" y="2342520"/>
            <a:ext cx="15120" cy="5277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cxnSp>
        <p:nvCxnSpPr>
          <p:cNvPr id="75" name="Google Shape;128;p24"/>
          <p:cNvCxnSpPr>
            <a:stCxn id="70" idx="4"/>
            <a:endCxn id="66" idx="0"/>
          </p:cNvCxnSpPr>
          <p:nvPr/>
        </p:nvCxnSpPr>
        <p:spPr>
          <a:xfrm flipH="1">
            <a:off x="4860720" y="2342520"/>
            <a:ext cx="1011240" cy="5277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sp>
        <p:nvSpPr>
          <p:cNvPr id="76" name="Google Shape;129;p24"/>
          <p:cNvSpPr/>
          <p:nvPr/>
        </p:nvSpPr>
        <p:spPr>
          <a:xfrm>
            <a:off x="2872080" y="2508480"/>
            <a:ext cx="63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(1…5)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" name="Google Shape;130;p24"/>
          <p:cNvCxnSpPr>
            <a:stCxn id="66" idx="2"/>
          </p:cNvCxnSpPr>
          <p:nvPr/>
        </p:nvCxnSpPr>
        <p:spPr>
          <a:xfrm>
            <a:off x="4860720" y="3465720"/>
            <a:ext cx="3960" cy="35892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sp>
        <p:nvSpPr>
          <p:cNvPr id="78" name="Google Shape;131;p24"/>
          <p:cNvSpPr/>
          <p:nvPr/>
        </p:nvSpPr>
        <p:spPr>
          <a:xfrm>
            <a:off x="4107960" y="3875400"/>
            <a:ext cx="2399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% change within 90m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36;p25"/>
          <p:cNvSpPr/>
          <p:nvPr/>
        </p:nvSpPr>
        <p:spPr>
          <a:xfrm>
            <a:off x="3489840" y="2158920"/>
            <a:ext cx="2551680" cy="595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LLM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37;p25"/>
          <p:cNvSpPr/>
          <p:nvPr/>
        </p:nvSpPr>
        <p:spPr>
          <a:xfrm>
            <a:off x="3864240" y="3970080"/>
            <a:ext cx="18028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% change within 90m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" name="Google Shape;138;p25"/>
          <p:cNvCxnSpPr>
            <a:stCxn id="82" idx="2"/>
            <a:endCxn id="80" idx="0"/>
          </p:cNvCxnSpPr>
          <p:nvPr/>
        </p:nvCxnSpPr>
        <p:spPr>
          <a:xfrm>
            <a:off x="4765680" y="3610800"/>
            <a:ext cx="360" cy="3596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sp>
        <p:nvSpPr>
          <p:cNvPr id="83" name="Google Shape;140;p25"/>
          <p:cNvSpPr/>
          <p:nvPr/>
        </p:nvSpPr>
        <p:spPr>
          <a:xfrm>
            <a:off x="3101040" y="278640"/>
            <a:ext cx="33296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“</a:t>
            </a: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Recent news indicates that &lt;article insights&gt;.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Market status is: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	</a:t>
            </a: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Vix: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	</a:t>
            </a: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Stock: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	</a:t>
            </a: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AI index: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Arial"/>
                <a:ea typeface="Arial"/>
              </a:rPr>
              <a:t>What is the expected gain/loss?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39;p25"/>
          <p:cNvSpPr/>
          <p:nvPr/>
        </p:nvSpPr>
        <p:spPr>
          <a:xfrm>
            <a:off x="3489840" y="3015000"/>
            <a:ext cx="2551680" cy="595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LoRA (...)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Google Shape;141;p25"/>
          <p:cNvCxnSpPr>
            <a:stCxn id="79" idx="2"/>
            <a:endCxn id="82" idx="0"/>
          </p:cNvCxnSpPr>
          <p:nvPr/>
        </p:nvCxnSpPr>
        <p:spPr>
          <a:xfrm>
            <a:off x="4765680" y="2754720"/>
            <a:ext cx="360" cy="2606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cxnSp>
        <p:nvCxnSpPr>
          <p:cNvPr id="85" name="Google Shape;142;p25"/>
          <p:cNvCxnSpPr>
            <a:stCxn id="83" idx="2"/>
            <a:endCxn id="79" idx="0"/>
          </p:cNvCxnSpPr>
          <p:nvPr/>
        </p:nvCxnSpPr>
        <p:spPr>
          <a:xfrm>
            <a:off x="4765680" y="1924200"/>
            <a:ext cx="360" cy="2350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chemeClr val="dk1"/>
                </a:solidFill>
                <a:latin typeface="Arial"/>
                <a:ea typeface="Arial"/>
              </a:rPr>
              <a:t>Results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2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Encoder + NN Combined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174;p30" descr=""/>
          <p:cNvPicPr/>
          <p:nvPr/>
        </p:nvPicPr>
        <p:blipFill>
          <a:blip r:embed="rId1"/>
          <a:stretch/>
        </p:blipFill>
        <p:spPr>
          <a:xfrm>
            <a:off x="152280" y="1170000"/>
            <a:ext cx="8838720" cy="254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LoRA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Google Shape;192;p33" descr=""/>
          <p:cNvPicPr/>
          <p:nvPr/>
        </p:nvPicPr>
        <p:blipFill>
          <a:blip r:embed="rId1"/>
          <a:stretch/>
        </p:blipFill>
        <p:spPr>
          <a:xfrm>
            <a:off x="152280" y="1170000"/>
            <a:ext cx="8838720" cy="357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Findings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Arial"/>
                <a:ea typeface="Arial"/>
              </a:rPr>
              <a:t>R² ≈ 0 — no model beat predicting the average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11040" y="3291840"/>
            <a:ext cx="8521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202020"/>
                </a:solidFill>
                <a:latin typeface="Arial"/>
                <a:ea typeface="Arial"/>
              </a:rPr>
              <a:t>Not on forecast. Not even on 30 minutes of hindsight.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Every family, every target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2" descr="14-consolidated-r2-all-families.png"/>
          <p:cNvPicPr/>
          <p:nvPr/>
        </p:nvPicPr>
        <p:blipFill>
          <a:blip r:embed="rId1"/>
          <a:stretch/>
        </p:blipFill>
        <p:spPr>
          <a:xfrm>
            <a:off x="1517040" y="905400"/>
            <a:ext cx="6109920" cy="386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Nothing beats the constant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Table 2"/>
          <p:cNvGraphicFramePr/>
          <p:nvPr/>
        </p:nvGraphicFramePr>
        <p:xfrm>
          <a:off x="685800" y="1143000"/>
          <a:ext cx="7772040" cy="192024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1828800"/>
                <a:gridCol w="1737360"/>
              </a:tblGrid>
              <a:tr h="274320">
                <a:tc>
                  <a:txBody>
                    <a:bodyPr anchor="t">
                      <a:noAutofit/>
                    </a:bodyPr>
                    <a:p>
                      <a:endParaRPr b="1" lang="en-US" sz="1200" spc="-1" strike="noStrike">
                        <a:solidFill>
                          <a:srgbClr val="ffffff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MAE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R²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constant (predict the mean)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74.1 bps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0.0000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Encoder + NN (separate)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78.5 bps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-0.0529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Encoder + NN (combined)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75.1 bps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-0.0049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Fine-tuned LLM (LoRA)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274.1 bps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-14.44 ※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DeBERTa + market floats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89.6 bps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-0.0015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Tree on 10 features (no text)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~98 bps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-0.1559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</a:tbl>
          </a:graphicData>
        </a:graphic>
      </p:graphicFrame>
      <p:sp>
        <p:nvSpPr>
          <p:cNvPr id="99" name="TextBox 3"/>
          <p:cNvSpPr/>
          <p:nvPr/>
        </p:nvSpPr>
        <p:spPr>
          <a:xfrm>
            <a:off x="311040" y="4023360"/>
            <a:ext cx="8521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c0392b"/>
                </a:solidFill>
                <a:latin typeface="Arial"/>
                <a:ea typeface="Arial"/>
              </a:rPr>
              <a:t>Best model = the constant.   50× the capacity → the same flat line (prediction spread 2.6–2.8%).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Does it call the direction?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1" name="Table 2"/>
          <p:cNvGraphicFramePr/>
          <p:nvPr/>
        </p:nvGraphicFramePr>
        <p:xfrm>
          <a:off x="640080" y="1280160"/>
          <a:ext cx="7863480" cy="109728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correct direction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within ±50 bps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Encoder + NN (separate)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48.38%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578 / 1,236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Encoder + NN (combined)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49.43%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610 / 1,236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Fine-tuned LLM (LoRA)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52.19%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84 / 1,236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</a:tbl>
          </a:graphicData>
        </a:graphic>
      </p:graphicFrame>
      <p:sp>
        <p:nvSpPr>
          <p:cNvPr id="102" name="TextBox 3"/>
          <p:cNvSpPr/>
          <p:nvPr/>
        </p:nvSpPr>
        <p:spPr>
          <a:xfrm>
            <a:off x="311040" y="3200400"/>
            <a:ext cx="8521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c0392b"/>
                </a:solidFill>
                <a:latin typeface="Arial"/>
                <a:ea typeface="Arial"/>
              </a:rPr>
              <a:t>Two are below a coin flip. 52.19% is 1.5 SE from chance (SE = 1.42 pp).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"You just didn't train it right"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2" descr="10-lr-probe.png"/>
          <p:cNvPicPr/>
          <p:nvPr/>
        </p:nvPicPr>
        <p:blipFill>
          <a:blip r:embed="rId1"/>
          <a:stretch/>
        </p:blipFill>
        <p:spPr>
          <a:xfrm>
            <a:off x="846000" y="1159560"/>
            <a:ext cx="7452000" cy="2709720"/>
          </a:xfrm>
          <a:prstGeom prst="rect">
            <a:avLst/>
          </a:prstGeom>
          <a:ln w="0">
            <a:noFill/>
          </a:ln>
        </p:spPr>
      </p:pic>
      <p:sp>
        <p:nvSpPr>
          <p:cNvPr id="105" name="TextBox 3"/>
          <p:cNvSpPr/>
          <p:nvPr/>
        </p:nvSpPr>
        <p:spPr>
          <a:xfrm>
            <a:off x="311040" y="4114800"/>
            <a:ext cx="8521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202020"/>
                </a:solidFill>
                <a:latin typeface="Arial"/>
                <a:ea typeface="Arial"/>
              </a:rPr>
              <a:t>Train loss halves while validation rises — it memorises, it does not underfit.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The one positive result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7" name="Table 2"/>
          <p:cNvGraphicFramePr/>
          <p:nvPr/>
        </p:nvGraphicFramePr>
        <p:xfrm>
          <a:off x="640080" y="1280160"/>
          <a:ext cx="7863480" cy="109728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1554480"/>
                <a:gridCol w="155448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hindsight run, split by date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R²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corr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all test rows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1,127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+0.0508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+0.2315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dates SEEN in training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+0.1541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+0.4107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c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dates NOT seen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-0.0056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+0.1271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ed8fa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3"/>
          <p:cNvSpPr/>
          <p:nvPr/>
        </p:nvSpPr>
        <p:spPr>
          <a:xfrm>
            <a:off x="311040" y="3200400"/>
            <a:ext cx="8521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c0392b"/>
                </a:solidFill>
                <a:latin typeface="Arial"/>
                <a:ea typeface="Arial"/>
              </a:rPr>
              <a:t>It learned the day, not the article.    Narrow to 30 min and even this vanishes: -0.0035 ± 0.0042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Arial"/>
                <a:ea typeface="Arial"/>
              </a:rPr>
              <a:t>The articles describe what the market </a:t>
            </a:r>
            <a:br>
              <a:rPr sz="4800"/>
            </a:br>
            <a:r>
              <a:rPr b="0" lang="en-US" sz="4800" spc="-1" strike="noStrike">
                <a:solidFill>
                  <a:schemeClr val="dk1"/>
                </a:solidFill>
                <a:latin typeface="Arial"/>
                <a:ea typeface="Arial"/>
              </a:rPr>
              <a:t>already did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311040" y="3567960"/>
            <a:ext cx="8521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202020"/>
                </a:solidFill>
                <a:latin typeface="Arial"/>
                <a:ea typeface="Arial"/>
              </a:rPr>
              <a:t>Collapsing to the mean is correct behaviour when there is no signal.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If we continue — change the data, not the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>
              <a:lnSpc>
                <a:spcPct val="115000"/>
              </a:lnSpc>
              <a:spcAft>
                <a:spcPts val="901"/>
              </a:spcAft>
              <a:buClr>
                <a:srgbClr val="595959"/>
              </a:buClr>
              <a:buFont typeface="Arial"/>
              <a:buChar char="●"/>
            </a:pPr>
            <a:r>
              <a:rPr b="0" lang="en-US" sz="1600" spc="-1" strike="noStrike">
                <a:solidFill>
                  <a:schemeClr val="dk2"/>
                </a:solidFill>
                <a:latin typeface="Arial"/>
                <a:ea typeface="Arial"/>
              </a:rPr>
              <a:t>Information that precedes the move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Aft>
                <a:spcPts val="901"/>
              </a:spcAft>
              <a:buClr>
                <a:srgbClr val="595959"/>
              </a:buClr>
              <a:buFont typeface="Arial"/>
              <a:buChar char="●"/>
            </a:pPr>
            <a:r>
              <a:rPr b="0" lang="en-US" sz="1600" spc="-1" strike="noStrike">
                <a:solidFill>
                  <a:schemeClr val="dk2"/>
                </a:solidFill>
                <a:latin typeface="Arial"/>
                <a:ea typeface="Arial"/>
              </a:rPr>
              <a:t>Market-adjusted target — strip the day factor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Aft>
                <a:spcPts val="901"/>
              </a:spcAft>
              <a:buClr>
                <a:srgbClr val="595959"/>
              </a:buClr>
              <a:buFont typeface="Arial"/>
              <a:buChar char="●"/>
            </a:pPr>
            <a:r>
              <a:rPr b="0" lang="en-US" sz="1600" spc="-1" strike="noStrike">
                <a:solidFill>
                  <a:schemeClr val="dk2"/>
                </a:solidFill>
                <a:latin typeface="Arial"/>
                <a:ea typeface="Arial"/>
              </a:rPr>
              <a:t>Sign classification with AUC, not regression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Aft>
                <a:spcPts val="901"/>
              </a:spcAft>
              <a:buClr>
                <a:srgbClr val="595959"/>
              </a:buClr>
              <a:buFont typeface="Arial"/>
              <a:buChar char="●"/>
            </a:pPr>
            <a:r>
              <a:rPr b="0" lang="en-US" sz="1600" spc="-1" strike="noStrike">
                <a:solidFill>
                  <a:schemeClr val="dk2"/>
                </a:solidFill>
                <a:latin typeface="Arial"/>
                <a:ea typeface="Arial"/>
              </a:rPr>
              <a:t>Substantially more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2026-09-14T23:08:24Z</dcterms:modified>
  <cp:revision>1</cp:revision>
  <dc:subject/>
  <dc:title/>
</cp:coreProperties>
</file>