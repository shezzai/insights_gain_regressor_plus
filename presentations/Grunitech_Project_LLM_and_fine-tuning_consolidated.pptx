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7" r:id="rId28"/>
    <p:sldId id="289" r:id="rId4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6B627F-3B50-4531-A839-7734C3EE4D21}">
  <a:tblStyle styleId="{1F6B627F-3B50-4531-A839-7734C3EE4D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10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d3509a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d3509a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d579b86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d579b86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d579b86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d579b86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d579b8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d579b8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d579b8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8d579b8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d579b86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d579b86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d579b86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d579b8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d579b8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d579b8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d579b86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8d579b86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d3509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d3509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8d3509ad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8d3509ad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d3509a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8d3509a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d3509a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8d3509a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d3509ad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d3509ad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d3509ad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8d3509ad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d3509ad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8d3509ad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d3509ad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8d3509ad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d3509ad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8d3509ad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d3509a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8d3509a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d3509ad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8d3509ad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single most important data slide, and it needs no model at all.</a:t>
            </a:r>
          </a:p>
          <a:p/>
          <a:p>
            <a:r>
              <a:t>We cross-tabulated the LLM's sentiment reading against which way the stock actually</a:t>
            </a:r>
          </a:p>
          <a:p>
            <a:r>
              <a:t>moved in the next 90 minutes. If sentiment carried directional information, the</a:t>
            </a:r>
          </a:p>
          <a:p>
            <a:r>
              <a:t>strongly-negative row and the strongly-positive row would look different.</a:t>
            </a:r>
          </a:p>
          <a:p/>
          <a:p>
            <a:r>
              <a:t>They are identical. Every class is a coin flip -- one percentage point separates the</a:t>
            </a:r>
          </a:p>
          <a:p>
            <a:r>
              <a:t>extremes, which on 5,506 articles is inside sampling noise.</a:t>
            </a:r>
          </a:p>
          <a:p/>
          <a:p>
            <a:r>
              <a:t>Everything in the Results section is a consequence of this table. Pause here.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ran five model families in total -- the three in this deck plus two more built as</a:t>
            </a:r>
          </a:p>
          <a:p>
            <a:r>
              <a:t>standalone packages. This section consolidates all of them onto one axis.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Leading with the conclusion.</a:t>
            </a:r>
          </a:p>
          <a:p/>
          <a:p>
            <a:r>
              <a:t>R-squared of zero means your error is the same size as just guessing the mean every</a:t>
            </a:r>
          </a:p>
          <a:p>
            <a:r>
              <a:t>time. Every model we built landed there or below.</a:t>
            </a:r>
          </a:p>
          <a:p/>
          <a:p>
            <a:r>
              <a:t>The second line is the part that surprised us: we also asked the models to describe a</a:t>
            </a:r>
          </a:p>
          <a:p>
            <a:r>
              <a:t>move that had ALREADY happened when the article was published. Still nothing.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one axis. Zero means 'no better than a constant'.</a:t>
            </a:r>
          </a:p>
          <a:p/>
          <a:p>
            <a:r>
              <a:t>Grey is baselines, blue the text model, orange the tree. Almost nothing clears zero,</a:t>
            </a:r>
          </a:p>
          <a:p>
            <a:r>
              <a:t>and the FLEXIBLE models -- gradient boosting, TF-IDF -- are the worst. That is the</a:t>
            </a:r>
          </a:p>
          <a:p>
            <a:r>
              <a:t>signature of fitting noise.</a:t>
            </a:r>
          </a:p>
          <a:p/>
          <a:p>
            <a:r>
              <a:t>The one bar to the right is a hindsight run. It turns out to be leakage; two slides on.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thing as numbers, on one held-out split of 1,236 articles.</a:t>
            </a:r>
          </a:p>
          <a:p/>
          <a:p>
            <a:r>
              <a:t>The constant predictor ignores every input and gets 74.1 basis points. Nothing beats</a:t>
            </a:r>
          </a:p>
          <a:p>
            <a:r>
              <a:t>it. The best model matches it to three decimal places -- that is what converging to</a:t>
            </a:r>
          </a:p>
          <a:p>
            <a:r>
              <a:t>'just predict the average' looks like.</a:t>
            </a:r>
          </a:p>
          <a:p/>
          <a:p>
            <a:r>
              <a:t>The LoRA row is flagged, not ranked: its error is 3.7x the baseline, which means it</a:t>
            </a:r>
          </a:p>
          <a:p>
            <a:r>
              <a:t>did not converge usefully rather than that it is meaningfully worse.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R-squared is about magnitude. For trading the question is simpler: does it get the</a:t>
            </a:r>
          </a:p>
          <a:p>
            <a:r>
              <a:t>direction right?</a:t>
            </a:r>
          </a:p>
          <a:p/>
          <a:p>
            <a:r>
              <a:t>Two of the three are below a coin flip. The third looks like an edge at 52% -- it</a:t>
            </a:r>
          </a:p>
          <a:p>
            <a:r>
              <a:t>isn't. That is 1.5 standard errors from chance, and it comes from the model with by</a:t>
            </a:r>
          </a:p>
          <a:p>
            <a:r>
              <a:t>far the worst magnitude error: 84 predictions within 50 basis points, against roughly</a:t>
            </a:r>
          </a:p>
          <a:p>
            <a:r>
              <a:t>600 for the other two.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is what the models actually do. We measured the spread of their predictions</a:t>
            </a:r>
          </a:p>
          <a:p>
            <a:r>
              <a:t>against the spread of reality.</a:t>
            </a:r>
          </a:p>
          <a:p/>
          <a:p>
            <a:r>
              <a:t>They output a nearly flat line -- predictions vary about 2.6% as much as the real</a:t>
            </a:r>
          </a:p>
          <a:p>
            <a:r>
              <a:t>moves do.</a:t>
            </a:r>
          </a:p>
          <a:p/>
          <a:p>
            <a:r>
              <a:t>And look at the capacity column: we varied trainable parameters fifty-fold and the</a:t>
            </a:r>
          </a:p>
          <a:p>
            <a:r>
              <a:t>spread barely moved. This is not a capacity problem.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obvious objection.</a:t>
            </a:r>
          </a:p>
          <a:p/>
          <a:p>
            <a:r>
              <a:t>Left panel, our settings: training loss falls by half while validation loss RISES.</a:t>
            </a:r>
          </a:p>
          <a:p>
            <a:r>
              <a:t>That is memorisation, not underfitting -- the model is perfectly capable of learning,</a:t>
            </a:r>
          </a:p>
          <a:p>
            <a:r>
              <a:t>it is learning the training set by heart.</a:t>
            </a:r>
          </a:p>
          <a:p/>
          <a:p>
            <a:r>
              <a:t>Right panel, five times the learning rate: it memorises harder and generalises worse.</a:t>
            </a:r>
          </a:p>
          <a:p/>
          <a:p>
            <a:r>
              <a:t>More learning rate, more capacity, more epochs all move you further along the wrong curve.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we eliminated. Run through it quickly -- the point is the breadth.</a:t>
            </a:r>
          </a:p>
          <a:p/>
          <a:p>
            <a:r>
              <a:t>Each of these would have shown a gradient if it were the cause. None did.</a:t>
            </a:r>
          </a:p>
          <a:p/>
          <a:p>
            <a:r>
              <a:t>The last line matters most: can the pipeline read text at all? Yes. Ask it to predict</a:t>
            </a:r>
          </a:p>
          <a:p>
            <a:r>
              <a:t>sentiment from the same text and it works -- 55% accuracy against a 43% baseline. The</a:t>
            </a:r>
          </a:p>
          <a:p>
            <a:r>
              <a:t>plumbing is fine. It is the mapping from text to future return that does not exist.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one run that looked alive, and why it does not count.</a:t>
            </a:r>
          </a:p>
          <a:p/>
          <a:p>
            <a:r>
              <a:t>We asked a model to describe a move that had already happened. It worked -- R-squared</a:t>
            </a:r>
          </a:p>
          <a:p>
            <a:r>
              <a:t>0.05, correlation 0.23, and for the first time the model committed to varied predictions.</a:t>
            </a:r>
          </a:p>
          <a:p/>
          <a:p>
            <a:r>
              <a:t>Then we split by date. On dates seen during training: 0.15. On genuinely unseen dates:</a:t>
            </a:r>
          </a:p>
          <a:p>
            <a:r>
              <a:t>below zero.</a:t>
            </a:r>
          </a:p>
          <a:p/>
          <a:p>
            <a:r>
              <a:t>It was not reading the article. It learned 'that morning was strong' from other</a:t>
            </a:r>
          </a:p>
          <a:p>
            <a:r>
              <a:t>articles on the same day and applied it to a different stock. Day-level market state,</a:t>
            </a:r>
          </a:p>
          <a:p>
            <a:r>
              <a:t>not article-level information.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conclusion, and I want to be precise about what it does and does not say.</a:t>
            </a:r>
          </a:p>
          <a:p/>
          <a:p>
            <a:r>
              <a:t>It does not say news is useless for trading. It says THIS corpus -- articles published</a:t>
            </a:r>
          </a:p>
          <a:p>
            <a:r>
              <a:t>after the fact, distilled into insights -- does not predict the move that follows, at</a:t>
            </a:r>
          </a:p>
          <a:p>
            <a:r>
              <a:t>this sample size and this horizon.</a:t>
            </a:r>
          </a:p>
          <a:p/>
          <a:p>
            <a:r>
              <a:t>The models collapsed to the mean because that is the mathematically correct answer</a:t>
            </a:r>
          </a:p>
          <a:p>
            <a:r>
              <a:t>when there is nothing to condition on. They behaved properly.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changes to the data or the question. Tuning is exhausted.</a:t>
            </a:r>
          </a:p>
          <a:p/>
          <a:p>
            <a:r>
              <a:t>One: information that precedes the move -- this corpus is retrospective by construction.</a:t>
            </a:r>
          </a:p>
          <a:p>
            <a:r>
              <a:t>Two: a market-adjusted target, stripping the day factor our features actually explain.</a:t>
            </a:r>
          </a:p>
          <a:p>
            <a:r>
              <a:t>Three: predict direction as classification with AUC, so a weak correlation shows up as</a:t>
            </a:r>
          </a:p>
          <a:p>
            <a:r>
              <a:t>53% instead of being erased by squared error.</a:t>
            </a:r>
          </a:p>
          <a:p>
            <a:r>
              <a:t>Four: more data -- we showed 1,000 rows is below the floor, and 3,000 probably is too.</a:t>
            </a:r>
          </a:p>
          <a:p/>
          <a:p>
            <a:r>
              <a:t>Happy to take questions.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more data check before any model: is 90 minutes even the right thing to predict?</a:t>
            </a:r>
          </a:p>
          <a:p/>
          <a:p>
            <a:r>
              <a:t>We bucketed the realised move into Loss, Neutral and Gain at a half-percent threshold.</a:t>
            </a:r>
          </a:p>
          <a:p>
            <a:r>
              <a:t>The Neutral column dominates every row -- 52% of all articles are followed by a move</a:t>
            </a:r>
          </a:p>
          <a:p>
            <a:r>
              <a:t>smaller than half a percent. More than half the corpus is "nothing happened", which is</a:t>
            </a:r>
          </a:p>
          <a:p>
            <a:r>
              <a:t>a hard thing to regress against for reasons that have nothing to do with the model.</a:t>
            </a:r>
          </a:p>
          <a:p/>
          <a:p>
            <a:r>
              <a:t>And of the articles that did move, the split is 50.2% down against 49.8% up. The loss</a:t>
            </a:r>
          </a:p>
          <a:p>
            <a:r>
              <a:t>share wanders between 47% and 55% across the rows with no ordering by sentiment --</a:t>
            </a:r>
          </a:p>
          <a:p>
            <a:r>
              <a:t>the strongly-negative row is 54.5% losses, the merely-negative row is 46.8%.</a:t>
            </a:r>
          </a:p>
          <a:p/>
          <a:p>
            <a:r>
              <a:t>We have the script to extend this to 24-hour and 7-day windows; those columns are not</a:t>
            </a:r>
          </a:p>
          <a:p>
            <a:r>
              <a:t>populated yet. Longer windows do move more -- whether they move predictably is open.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Intra-Day Market Sentiment Prediction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Shay, Hannan, Niv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 </a:t>
            </a:r>
            <a:r>
              <a:rPr b="1" lang="en"/>
              <a:t>stream of articles</a:t>
            </a:r>
            <a:r>
              <a:rPr lang="en"/>
              <a:t>, we’d like to </a:t>
            </a:r>
            <a:r>
              <a:rPr b="1" lang="en"/>
              <a:t>predict a recommendation for short term buy/hold/sell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Assumptions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Narrow on one market segment (AI stocks)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Rely on market sentiment (article stream)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 for medium term (90 minutes)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 market status (vix, AI stocks Index, stock price)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513" y="1824038"/>
            <a:ext cx="62769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 sz="1400">
                <a:solidFill>
                  <a:srgbClr val="1F1F1F"/>
                </a:solidFill>
                <a:highlight>
                  <a:srgbClr val="FFFFFF"/>
                </a:highlight>
              </a:rPr>
              <a:t>Total 5,506 articles</a:t>
            </a:r>
            <a:endParaRPr b="1"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Curated insights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Sentiment (extracted with gemini-3.8-flash)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Market 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features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: vix, stock change, AIQ index.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 sz="1400">
                <a:solidFill>
                  <a:srgbClr val="1F1F1F"/>
                </a:solidFill>
                <a:highlight>
                  <a:srgbClr val="FFFFFF"/>
                </a:highlight>
              </a:rPr>
              <a:t>Split:</a:t>
            </a:r>
            <a:endParaRPr b="1"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b="1" lang="en" sz="1400">
                <a:solidFill>
                  <a:srgbClr val="1F1F1F"/>
                </a:solidFill>
                <a:highlight>
                  <a:srgbClr val="FFFFFF"/>
                </a:highlight>
              </a:rPr>
              <a:t>Training Set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: 3173</a:t>
            </a:r>
            <a:endParaRPr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b="1" lang="en" sz="1400">
                <a:solidFill>
                  <a:srgbClr val="1F1F1F"/>
                </a:solidFill>
                <a:highlight>
                  <a:srgbClr val="FFFFFF"/>
                </a:highlight>
              </a:rPr>
              <a:t>Validation Set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: 1096</a:t>
            </a:r>
            <a:endParaRPr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b="1" lang="en" sz="1400">
                <a:solidFill>
                  <a:srgbClr val="1F1F1F"/>
                </a:solidFill>
                <a:highlight>
                  <a:srgbClr val="FFFFFF"/>
                </a:highlight>
              </a:rPr>
              <a:t>Test Set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: 1237</a:t>
            </a:r>
            <a:endParaRPr sz="1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874" y="678438"/>
            <a:ext cx="7746250" cy="378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87" y="247850"/>
            <a:ext cx="8337626" cy="464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89" y="906750"/>
            <a:ext cx="7455226" cy="38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547084" y="269188"/>
            <a:ext cx="5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Intraday Gain Until Article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250" y="965999"/>
            <a:ext cx="6953376" cy="367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625225" y="356050"/>
            <a:ext cx="50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Gain 90m After Article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vs. what happened next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7863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2377440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LLM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next move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next move UP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Strongly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50.80%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49.20%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49.82%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50.18%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48.86%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49.76%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50.24%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Strongly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49.86%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402336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Every sentiment class is a coin flip — a property of the data, not of any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06" name="Google Shape;10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Architectures</a:t>
            </a: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Encoder + NN</a:t>
            </a:r>
            <a:r>
              <a:rPr lang="en"/>
              <a:t> - we train each separately, on the same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Encode ++ NN</a:t>
            </a:r>
            <a:r>
              <a:rPr lang="en"/>
              <a:t> - we train both encoder and NN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Naive LLM</a:t>
            </a:r>
            <a:r>
              <a:rPr lang="en"/>
              <a:t> - we pack all input as JSON and train LLM using LoRA to predict market movements.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/>
          <p:nvPr/>
        </p:nvSpPr>
        <p:spPr>
          <a:xfrm rot="-5400000">
            <a:off x="4694900" y="804800"/>
            <a:ext cx="654300" cy="27531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4"/>
          <p:cNvSpPr/>
          <p:nvPr/>
        </p:nvSpPr>
        <p:spPr>
          <a:xfrm>
            <a:off x="2370350" y="1803225"/>
            <a:ext cx="1003500" cy="5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sp>
        <p:nvSpPr>
          <p:cNvPr id="119" name="Google Shape;119;p24"/>
          <p:cNvSpPr/>
          <p:nvPr/>
        </p:nvSpPr>
        <p:spPr>
          <a:xfrm>
            <a:off x="3584700" y="2870000"/>
            <a:ext cx="2552100" cy="5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NN</a:t>
            </a:r>
            <a:endParaRPr/>
          </a:p>
        </p:txBody>
      </p:sp>
      <p:cxnSp>
        <p:nvCxnSpPr>
          <p:cNvPr id="120" name="Google Shape;120;p24"/>
          <p:cNvCxnSpPr>
            <a:stCxn id="118" idx="2"/>
            <a:endCxn id="119" idx="1"/>
          </p:cNvCxnSpPr>
          <p:nvPr/>
        </p:nvCxnSpPr>
        <p:spPr>
          <a:xfrm>
            <a:off x="2872100" y="2399325"/>
            <a:ext cx="712500" cy="7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" name="Google Shape;121;p24"/>
          <p:cNvSpPr txBox="1"/>
          <p:nvPr/>
        </p:nvSpPr>
        <p:spPr>
          <a:xfrm>
            <a:off x="4473050" y="1341525"/>
            <a:ext cx="10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Numerical Market Features</a:t>
            </a:r>
            <a:endParaRPr b="1" sz="900">
              <a:solidFill>
                <a:schemeClr val="dk2"/>
              </a:solidFill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5089700" y="1959550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5555075" y="2037700"/>
            <a:ext cx="632700" cy="3054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">
                <a:solidFill>
                  <a:schemeClr val="dk1"/>
                </a:solidFill>
              </a:rPr>
              <a:t>index</a:t>
            </a: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4529550" y="2037700"/>
            <a:ext cx="632700" cy="3054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stock</a:t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3831225" y="2037700"/>
            <a:ext cx="632700" cy="3054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vix</a:t>
            </a:r>
            <a:endParaRPr/>
          </a:p>
        </p:txBody>
      </p:sp>
      <p:cxnSp>
        <p:nvCxnSpPr>
          <p:cNvPr id="126" name="Google Shape;126;p24"/>
          <p:cNvCxnSpPr>
            <a:endCxn id="119" idx="0"/>
          </p:cNvCxnSpPr>
          <p:nvPr/>
        </p:nvCxnSpPr>
        <p:spPr>
          <a:xfrm>
            <a:off x="4108050" y="2355800"/>
            <a:ext cx="752700" cy="5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" name="Google Shape;127;p24"/>
          <p:cNvCxnSpPr>
            <a:stCxn id="124" idx="4"/>
            <a:endCxn id="119" idx="0"/>
          </p:cNvCxnSpPr>
          <p:nvPr/>
        </p:nvCxnSpPr>
        <p:spPr>
          <a:xfrm>
            <a:off x="4845900" y="2343100"/>
            <a:ext cx="150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" name="Google Shape;128;p24"/>
          <p:cNvCxnSpPr>
            <a:stCxn id="123" idx="4"/>
            <a:endCxn id="119" idx="0"/>
          </p:cNvCxnSpPr>
          <p:nvPr/>
        </p:nvCxnSpPr>
        <p:spPr>
          <a:xfrm flipH="1">
            <a:off x="4860725" y="2343100"/>
            <a:ext cx="10107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24"/>
          <p:cNvSpPr txBox="1"/>
          <p:nvPr/>
        </p:nvSpPr>
        <p:spPr>
          <a:xfrm>
            <a:off x="2872100" y="2508500"/>
            <a:ext cx="63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(1…5)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0" name="Google Shape;130;p24"/>
          <p:cNvCxnSpPr>
            <a:stCxn id="119" idx="2"/>
          </p:cNvCxnSpPr>
          <p:nvPr/>
        </p:nvCxnSpPr>
        <p:spPr>
          <a:xfrm>
            <a:off x="4860750" y="3466100"/>
            <a:ext cx="3600" cy="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" name="Google Shape;131;p24"/>
          <p:cNvSpPr txBox="1"/>
          <p:nvPr/>
        </p:nvSpPr>
        <p:spPr>
          <a:xfrm>
            <a:off x="4108050" y="3875425"/>
            <a:ext cx="239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% change within 90m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/>
        </p:nvSpPr>
        <p:spPr>
          <a:xfrm>
            <a:off x="3489896" y="2159025"/>
            <a:ext cx="2552100" cy="5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3864292" y="3969900"/>
            <a:ext cx="180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% change within 90m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38" name="Google Shape;138;p25"/>
          <p:cNvCxnSpPr>
            <a:stCxn id="139" idx="2"/>
            <a:endCxn id="137" idx="0"/>
          </p:cNvCxnSpPr>
          <p:nvPr/>
        </p:nvCxnSpPr>
        <p:spPr>
          <a:xfrm>
            <a:off x="4765946" y="3611225"/>
            <a:ext cx="0" cy="35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" name="Google Shape;140;p25"/>
          <p:cNvSpPr txBox="1"/>
          <p:nvPr/>
        </p:nvSpPr>
        <p:spPr>
          <a:xfrm>
            <a:off x="3101216" y="278595"/>
            <a:ext cx="333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“Recent news indicates that &lt;article insights&gt;.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Market status is: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Vix: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Stock: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AI index: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What is the expected gain/loss?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3489896" y="3015125"/>
            <a:ext cx="2552100" cy="5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 (...)</a:t>
            </a:r>
            <a:endParaRPr/>
          </a:p>
        </p:txBody>
      </p:sp>
      <p:cxnSp>
        <p:nvCxnSpPr>
          <p:cNvPr id="141" name="Google Shape;141;p25"/>
          <p:cNvCxnSpPr>
            <a:stCxn id="136" idx="2"/>
            <a:endCxn id="139" idx="0"/>
          </p:cNvCxnSpPr>
          <p:nvPr/>
        </p:nvCxnSpPr>
        <p:spPr>
          <a:xfrm>
            <a:off x="4765946" y="2755125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25"/>
          <p:cNvCxnSpPr>
            <a:stCxn id="140" idx="2"/>
            <a:endCxn id="136" idx="0"/>
          </p:cNvCxnSpPr>
          <p:nvPr/>
        </p:nvCxnSpPr>
        <p:spPr>
          <a:xfrm flipH="1">
            <a:off x="4765916" y="1940895"/>
            <a:ext cx="300" cy="2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Selection</a:t>
            </a:r>
            <a:endParaRPr/>
          </a:p>
        </p:txBody>
      </p:sp>
      <p:graphicFrame>
        <p:nvGraphicFramePr>
          <p:cNvPr id="148" name="Google Shape;148;p26"/>
          <p:cNvGraphicFramePr/>
          <p:nvPr/>
        </p:nvGraphicFramePr>
        <p:xfrm>
          <a:off x="196025" y="131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{1F6B627F-3B50-4531-A839-7734C3EE4D21}</a:tableStyleId>
              </a:tblPr>
              <a:tblGrid>
                <a:gridCol w="1514475"/>
                <a:gridCol w="1638300"/>
                <a:gridCol w="1733550"/>
                <a:gridCol w="2009775"/>
                <a:gridCol w="19716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Option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7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Architecture Type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7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Latency / Speed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7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Accuracy Potential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7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Complexity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7C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Fine-Tuned Bi-Encoder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Dual-encoder (Sentence-Transformer)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Extremely Fast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(Pre-computable embeddings)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Moderate-High</a:t>
                      </a: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 (Depending on pooling and target proximity)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Medium (Requires labeled regression data and training loop)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9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Cross-Encoder with Hidden State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Single-encoder with joint cross-attention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Slow (Re-computes full sequence attention per object)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Highest (Full token-to-token interaction across article and object)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High (Requires custom extraction logic and head projection training)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LLM-Based Structured Extraction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Generative LLM API / Local Model + Projection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Slowest (Token generation + projection step)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Very High (Leverages zero-shot reasoning and multi-faceted breakdowns)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Low-Medium (Mainly prompt engineering and downstream mapping)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Aspect-Based Prompt Embeddings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Off-the-shelf instruction-tuned encoder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Fast (Inference only, no fine-tuning)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Moderate (Dependent on base model's zero-shot sentiment alignment)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Lowest (Zero training, configuration-only)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4" name="Google Shape;15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25" y="643474"/>
            <a:ext cx="7202926" cy="19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181775" y="181775"/>
            <a:ext cx="41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Encoder Only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425" y="2930325"/>
            <a:ext cx="7072116" cy="19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181775" y="2530025"/>
            <a:ext cx="41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Fusing Encoder+NN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+ NN (Separate)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024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+ NN </a:t>
            </a:r>
            <a:r>
              <a:rPr lang="en"/>
              <a:t>Combined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54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+ NN (Together)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62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4027"/>
            <a:ext cx="9143999" cy="27154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Fine-tuned LLM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</a:t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575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R² ≈ 0 — no model beat predicting the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329184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Not on forecast. Not even on 30 minutes of hindsight.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family, every target</a:t>
            </a:r>
          </a:p>
        </p:txBody>
      </p:sp>
      <p:pic>
        <p:nvPicPr>
          <p:cNvPr id="3" name="Picture 2" descr="14-consolidated-r2-all-fami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10" y="905256"/>
            <a:ext cx="6110179" cy="38679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Nothing beats the constant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828800"/>
                <a:gridCol w="17373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test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constant (predict the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+ NN (separate)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78.5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C0392B"/>
                          </a:solidFill>
                        </a:defRPr>
                      </a:pPr>
                      <a:r>
                        <a:t>-0.0529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+ NN (combined)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75.1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C0392B"/>
                          </a:solidFill>
                        </a:defRPr>
                      </a:pPr>
                      <a:r>
                        <a:t>-0.0049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Fine-tuned LLM (LoRA)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C0392B"/>
                          </a:solidFill>
                        </a:defRPr>
                      </a:pPr>
                      <a:r>
                        <a:t>-14.44 ※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DeBERTa + market floats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89.6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C0392B"/>
                          </a:solidFill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Tree on 10 features (no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~98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C0392B"/>
                          </a:solidFill>
                        </a:defRPr>
                      </a:pPr>
                      <a:r>
                        <a:t>-0.1559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402336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Best model = the constant, to three decimals.    ※ 2c did not converge usefully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it call the direction?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863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correct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within ±50 bps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+ NN (separate)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48.38%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578 / 1,236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+ NN (combined)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49.43%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610 / 1,236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Fine-tuned LLM (LoRA)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52.19%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84 / 1,236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320040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Two are below a coin flip. 52.19% is 1.5 SE from chance (SE = 1.42 pp).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models emit a constant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737360"/>
                <a:gridCol w="21945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trainable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prediction spread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LoRA r=8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-0.0086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freeze-1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7.3M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-0.0025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freeze-3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310896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50× the capacity — the same flat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"You just didn't train it right"</a:t>
            </a:r>
          </a:p>
        </p:txBody>
      </p:sp>
      <p:pic>
        <p:nvPicPr>
          <p:cNvPr id="3" name="Picture 2" descr="10-lr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159625"/>
            <a:ext cx="7452360" cy="27099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" y="411480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02020"/>
                </a:solidFill>
              </a:defRPr>
            </a:pPr>
            <a:r>
              <a:t>Train loss halves while validation rises — it memorises, it does not underfit.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Ruled 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defRPr sz="1500"/>
            </a:pPr>
            <a:r>
              <a:t>Broken training</a:t>
            </a:r>
          </a:p>
          <a:p>
            <a:pPr>
              <a:spcAft>
                <a:spcPts val="900"/>
              </a:spcAft>
              <a:defRPr sz="1500"/>
            </a:pPr>
            <a:r>
              <a:t>Learning rate too low</a:t>
            </a:r>
          </a:p>
          <a:p>
            <a:pPr>
              <a:spcAft>
                <a:spcPts val="900"/>
              </a:spcAft>
              <a:defRPr sz="1500"/>
            </a:pPr>
            <a:r>
              <a:t>Too much capacity</a:t>
            </a:r>
          </a:p>
          <a:p>
            <a:pPr>
              <a:spcAft>
                <a:spcPts val="900"/>
              </a:spcAft>
              <a:defRPr sz="1500"/>
            </a:pPr>
            <a:r>
              <a:t>Wrong loss · wrong ticker · wrong window</a:t>
            </a:r>
          </a:p>
          <a:p>
            <a:pPr>
              <a:spcAft>
                <a:spcPts val="900"/>
              </a:spcAft>
              <a:defRPr sz="1500"/>
            </a:pPr>
            <a:r>
              <a:t>Corpus too noisy</a:t>
            </a:r>
          </a:p>
          <a:p>
            <a:pPr>
              <a:spcAft>
                <a:spcPts val="900"/>
              </a:spcAft>
              <a:defRPr sz="1500" b="1"/>
            </a:pPr>
            <a:r>
              <a:t>Pipeline can't read text — it reads fine: 55% vs 43% on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11480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Each would have shown a gradient. None did.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positive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863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8016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hindsight run, split by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corr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all test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1,127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+0.0508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+0.2315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dates SEEN in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+0.1541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+0.4107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dates NOT 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-0.0056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+0.1271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320040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It learned the day, not the article.    Narrow to 30 min and even this vanishes: -0.0035 ± 0.0042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articles describe what the market already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329184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t>Collapsing to the mean is correct behaviour when there is no signal.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we continue — change the data, not the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defRPr sz="1600"/>
            </a:pPr>
            <a:r>
              <a:t>Information that precedes the move</a:t>
            </a:r>
          </a:p>
          <a:p>
            <a:pPr>
              <a:spcAft>
                <a:spcPts val="900"/>
              </a:spcAft>
              <a:defRPr sz="1600"/>
            </a:pPr>
            <a:r>
              <a:t>Market-adjusted target — strip the day factor</a:t>
            </a:r>
          </a:p>
          <a:p>
            <a:pPr>
              <a:spcAft>
                <a:spcPts val="900"/>
              </a:spcAft>
              <a:defRPr sz="1600"/>
            </a:pPr>
            <a:r>
              <a:t>Sign classification with AUC, not regression</a:t>
            </a:r>
          </a:p>
          <a:p>
            <a:pPr>
              <a:spcAft>
                <a:spcPts val="900"/>
              </a:spcAft>
              <a:defRPr sz="1600"/>
            </a:pPr>
            <a:r>
              <a:t>Substantially more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90 minutes even the right horizon?</a:t>
            </a:r>
          </a:p>
        </p:txBody>
      </p:sp>
      <p:pic>
        <p:nvPicPr>
          <p:cNvPr id="3" name="Picture 2" descr="15-sentiment-vs-gain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98" y="1051560"/>
            <a:ext cx="3185604" cy="3177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" y="4366260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52% of articles move less than ±0.5%.  Of the rest: 50.2% down / 49.8%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